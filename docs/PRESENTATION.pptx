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HARRIS opens. 30 seconds. Name the theme, the framework, and the one-line claim: a countermeasure unit that analyses deepfake audio, manipulated video and network intrusion in parallel and produces a verified attack vector. Then hand to Dharizman.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member must speak — this is a graded criterion (C1). Rehearse the four handovers so they are clean: Harris -&gt; Dharizman -&gt; Azad -&gt; Nazrul, then Harris and Nazrul share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HARRIS. Keep to 90 seconds. The key line is: the dependency between specialists is real, so the architecture has to express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DHARIZMAN starts here. Do NOT read every node. Trace ONE path with your finger: brief → router → two specialists in parallel → coordinator → gate → predictor. Then point at the red path and say 'and that is what happens when it breaks — Nazrul will demo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DHARIZMAN. This slide answers assessment item A2.2 directly — say the word DYNAMIC out loud. The embedding-model guard is A2.3; mention we test it in the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AZAD ARIF starts here. Emphasise the right-hand column — what each agent is FORBIDDEN from doing. That is what stops three agents reporting the same piece of evidence as if it were three corroborating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AZAD ARIF. This is the highest-value slide for the 'Prompt Engineering' rubric row (15%). Tell the failure story — examiners remember the always-SYNTHETIC bug. 12 prompt iterations are logged in Section 3.4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DHARIZMAN or AZAD. Rubric asks us to JUSTIFY the pattern over alternatives — so name all three alternatives and give the one-line reason each was rejected. Do not skip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NAZRUL AIMAN starts here. The 'exclude, don't zero' point is the strongest single line in this section — a failed audio agent must not make the incident look safer than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NAZRUL AIMAN. Say clearly: these numbers were produced by running demo_fallback.py, and we are about to run it live. That is the bridge into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HARRIS drives the keyboard, DHARIZMAN narrates the trace. Have BOTH scenarios already typed in two terminal tabs. Do not type live. Showing the low-threat run immediately after proves the branch is real and not hard-coded.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NAZRUL AIMAN drives this. This slide covers criterion C4 — a live fallback trigger is separately assessed. If the demo machine misbehaves, the captured output is in Section 5.6 of the report; say so and show it rather than debugging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member — Azad or Nazrul. The three-scenario table is the proof that routing is input-dependent — different briefs, different dispatch sets, both branches of the escalation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HARRIS or DHARIZMAN. Do NOT downplay AI use; the rubric rewards transparent declaration. The three examples show we understood the code well enough to find real defects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HARRIS closes. Likely questions: (1) 'Is the router really dynamic?' — yes, semantic classification; the mock engine exists for reproducible grading, and we can re-run against LM Studio. (2) 'What if two agents disagree?' — the coordinator weights by each specialist's reported confidence. (3) 'Why LangGraph over CrewAI?' — bounded execution makes the loop guard and fallback budget enforceable.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hidden during the talk; jump to it if a demo needs re-running or an examiner asks to see something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A5B4FC"/>
                </a:solidFill>
                <a:latin typeface="Segoe UI"/>
              </a:rPr>
              <a:t>ISB 46703  ·  PRINCIPLES OF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000" b="1">
                <a:solidFill>
                  <a:srgbClr val="FFFFFF"/>
                </a:solidFill>
                <a:latin typeface="Segoe UI"/>
              </a:rPr>
              <a:t>PROJECT SENTINEL-4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100" b="0">
                <a:solidFill>
                  <a:srgbClr val="C7D2FE"/>
                </a:solidFill>
                <a:latin typeface="Segoe UI"/>
              </a:rPr>
              <a:t>A Multi-Agent Digital Countermeasure Unit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100" b="0">
                <a:solidFill>
                  <a:srgbClr val="C7D2FE"/>
                </a:solidFill>
                <a:latin typeface="Segoe UI"/>
              </a:rPr>
              <a:t>Against the Rogue AI Threat “The Entity”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77639"/>
            <a:ext cx="5120640" cy="457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0">
                <a:solidFill>
                  <a:srgbClr val="A5B4FC"/>
                </a:solidFill>
                <a:latin typeface="Segoe UI"/>
              </a:rPr>
              <a:t>LangGraph  ·  5 specialised agents  ·  5 custom tools  ·  4 conditional routing paths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0">
                <a:solidFill>
                  <a:srgbClr val="A5B4FC"/>
                </a:solidFill>
                <a:latin typeface="Segoe UI"/>
              </a:rPr>
              <a:t>Hierarchical supervisor over a shared-state blackboard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HARRIS ILHAM SHAH BIN MOHD AZRAF  (Leader)  ·  52213125949          DHARIZMAN BIN GHAZALI @ HASSAN  ·  52213125618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33872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AZAD ARIF BIN ABDUL RAZAK  ·  52213125884          MUHAMMAD NAZRUL AIMAN BIN MOHD NIZAM  ·  52213124200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Lecturer: Dr. Chen  ·  Malaysian Institute of Information Technology  ·  Week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4338CA"/>
                </a:solidFill>
                <a:latin typeface="Segoe UI"/>
              </a:rPr>
              <a:t>10–15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E1B4B"/>
                </a:solidFill>
                <a:latin typeface="Segoe UI"/>
              </a:rPr>
              <a:t>Agenda &amp; Speaker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10972800" cy="621792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773936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1B4B"/>
                </a:solidFill>
                <a:latin typeface="Segoe UI"/>
              </a:rPr>
              <a:t>1.  The problem &amp; why a Multi-Agent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830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338CA"/>
                </a:solidFill>
                <a:latin typeface="Segoe UI"/>
              </a:rPr>
              <a:t>HARRIS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17830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1.5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59152"/>
            <a:ext cx="10972800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532888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1B4B"/>
                </a:solidFill>
                <a:latin typeface="Segoe UI"/>
              </a:rPr>
              <a:t>2.  Architecture, state management &amp; the dynamic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4203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338CA"/>
                </a:solidFill>
                <a:latin typeface="Segoe UI"/>
              </a:rPr>
              <a:t>DHARIZMAN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54203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3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18104"/>
            <a:ext cx="10972800" cy="621792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1B4B"/>
                </a:solidFill>
                <a:latin typeface="Segoe UI"/>
              </a:rPr>
              <a:t>3.  Agent roles &amp; prompt engineering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009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338CA"/>
                </a:solidFill>
                <a:latin typeface="Segoe UI"/>
              </a:rPr>
              <a:t>AZAD ARIF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330098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3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77056"/>
            <a:ext cx="10972800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4050792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1B4B"/>
                </a:solidFill>
                <a:latin typeface="Segoe UI"/>
              </a:rPr>
              <a:t>4.  Robustness, loop guards &amp; the fallback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0599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338CA"/>
                </a:solidFill>
                <a:latin typeface="Segoe UI"/>
              </a:rPr>
              <a:t>NAZRUL AIMAN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059936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2.5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36008"/>
            <a:ext cx="10972800" cy="621792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4809744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1B4B"/>
                </a:solidFill>
                <a:latin typeface="Segoe UI"/>
              </a:rPr>
              <a:t>5.  LIVE DEMO — multi-vector attack + fallback trigger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1888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338CA"/>
                </a:solidFill>
                <a:latin typeface="Segoe UI"/>
              </a:rPr>
              <a:t>HARRIS + NAZRUL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48188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3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394959"/>
            <a:ext cx="10972800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5568696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1B4B"/>
                </a:solidFill>
                <a:latin typeface="Segoe UI"/>
              </a:rPr>
              <a:t>6.  Results, AI declaration &amp; Q&amp;A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5778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338CA"/>
                </a:solidFill>
                <a:latin typeface="Segoe UI"/>
              </a:rPr>
              <a:t>All four members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55778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2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4338CA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E1B4B"/>
                </a:solidFill>
                <a:latin typeface="Segoe UI"/>
              </a:rPr>
              <a:t>Why a Multi-Agent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55778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1E1B4B"/>
                </a:solidFill>
                <a:latin typeface="Segoe UI"/>
              </a:rPr>
              <a:t>The attack is parallel. The defence must be too.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▸  “The Entity” runs synthetic-media social engineering AND network intrusion simultaneously.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▸  A human SOC analyst consults specialist tools serially.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▸  By the time the voice-cloning verdict returns, the credential that voice obtained has already been used.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1E1B4B"/>
                </a:solidFill>
                <a:latin typeface="Segoe UI"/>
              </a:rPr>
              <a:t>What a single agent cannot do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▸  One context window holding audio forensics + video forensics + network telemetry + strategic doctrine cross-contaminates.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▸  There is no point at which an independent verification step can be inserted.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600200"/>
            <a:ext cx="5120640" cy="42062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47688" y="1746504"/>
            <a:ext cx="471830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OUR ANSWER — SENTINEL-4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7688" y="2148840"/>
            <a:ext cx="4718303" cy="3520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A dynamic supervisor reads the operator's incident brief and decides which forensic specialists the incident actually requires.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Independent specialists run CONCURRENTLY.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A fusion agent reads the whole board and verifies ONE attack vector.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A conditional gate decides whether the threat warrants predictive planning.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If anything fails, the unit degrades — it does not crash.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4338CA"/>
                </a:solidFill>
                <a:latin typeface="Segoe UI"/>
              </a:rPr>
              <a:t>ARCHITECTURAL DECISION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E1B4B"/>
                </a:solidFill>
                <a:latin typeface="Segoe UI"/>
              </a:rPr>
              <a:t>System 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776107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3716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Read the graph left to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783080"/>
            <a:ext cx="5989320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▸  Dynamic router fans out only to the specialists the brief requires.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▸  Media specialists run in the SAME super-step — wall-clock is the slower of the two, not their sum.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▸  cyber_coordinator is the FUSION POINT: the only agent allowed to set vector_verified.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▸  4 conditional gates (amber diamonds) — 2 are required, we built 4.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▸  Red path = degraded output. Reachable from two places, always ends in a usable product.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▸  Right panel = the shared blackboard, its concurrency reducers, and the three independent loop guards.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4338CA"/>
                </a:solidFill>
                <a:latin typeface="Segoe UI"/>
              </a:rPr>
              <a:t>ARCHITECTURAL DECISION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E1B4B"/>
                </a:solidFill>
                <a:latin typeface="Segoe UI"/>
              </a:rPr>
              <a:t>The Router is DYNAMIC — and declares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94960" cy="21488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49926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DYNAMIC  (LLM-driven semantic routing)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011680"/>
            <a:ext cx="49926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The router performs semantic INTENT CLASSIFICATION over the raw brief and selects specialists from the inferred intent.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Intent classes: multi_vector_incident · media_deception_only · network_intrusion_only · reconnaissance_probe · ambiguous_report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Declared in the source itself — src/router.py:3–13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394960" cy="21488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73368" y="1609344"/>
            <a:ext cx="49926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…with a deterministic safety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0"/>
            <a:ext cx="49926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If the semantic pass fails — endpoint down, unparseable reply, contract breach — control falls to a STATIC keyword matcher.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The mode actually used is written to the blackboard and printed every run: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DYNAMIC_SEMANTIC  or  STATIC_FALLBACK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The operator is never misled about which mechanism dispatched.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86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E1B4B"/>
                </a:solidFill>
                <a:latin typeface="Segoe UI"/>
              </a:rPr>
              <a:t>Two defences the router carries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▸  Hallucinated agent names are intersected against a frozen DISPATCHABLE_AGENTS set — an invented specialist becomes a corrected decision, not a KeyError deep inside dispatch.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▸  cyber_coordinator is ALWAYS dispatched — the escalation gate and the predictor both depend on it, so the fusion point can never be missing.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▸  Model-misrouting guard: an embedding model id in the chat slot makes the system REFUSE TO START. Inference is never sent to text-embedding-nomic.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4338CA"/>
                </a:solidFill>
                <a:latin typeface="Segoe UI"/>
              </a:rPr>
              <a:t>ROLE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E1B4B"/>
                </a:solidFill>
                <a:latin typeface="Segoe UI"/>
              </a:rPr>
              <a:t>Five Specialists — Mutually Exclusive by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972800" cy="384048"/>
          </a:xfrm>
          <a:prstGeom prst="rect">
            <a:avLst/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58191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ROLE 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5819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OWNS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8191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EXPLICITLY FORBIDDEN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865376"/>
            <a:ext cx="10972800" cy="896112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Deepfake Audio Analysis Specialist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虚假语音识别专员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99339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4338CA"/>
                </a:solidFill>
                <a:latin typeface="Segoe UI"/>
              </a:rPr>
              <a:t>AUDIO_FORENSICS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993392"/>
            <a:ext cx="30175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Speech-audio authenticity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993392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B91C1C"/>
                </a:solidFill>
                <a:latin typeface="Segoe UI"/>
              </a:rPr>
              <a:t>Video · network ·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61488"/>
            <a:ext cx="1097280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2889504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Manipulated Video Stream Detector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流视频编辑检测专员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88950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4338CA"/>
                </a:solidFill>
                <a:latin typeface="Segoe UI"/>
              </a:rPr>
              <a:t>VIDEO_FORENSICS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889504"/>
            <a:ext cx="30175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Frame-level manipulation vs.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misrepresentation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889504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B91C1C"/>
                </a:solidFill>
                <a:latin typeface="Segoe UI"/>
              </a:rPr>
              <a:t>Audio · containment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657600"/>
            <a:ext cx="10972800" cy="896112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785615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Cyber Offense/Defense Coordinator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网络攻防专员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785615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4338CA"/>
                </a:solidFill>
                <a:latin typeface="Segoe UI"/>
              </a:rPr>
              <a:t>CYBER_OPS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785615"/>
            <a:ext cx="30175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Evidence fusion · vector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verification · containment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785615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B91C1C"/>
                </a:solidFill>
                <a:latin typeface="Segoe UI"/>
              </a:rPr>
              <a:t>Re-litigating media verdicts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B91C1C"/>
                </a:solidFill>
                <a:latin typeface="Segoe UI"/>
              </a:rPr>
              <a:t>Forward planning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553712"/>
            <a:ext cx="1097280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4681728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Tactical &amp; Strategic Predictor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敌方战术战略预判专员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468172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4338CA"/>
                </a:solidFill>
                <a:latin typeface="Segoe UI"/>
              </a:rPr>
              <a:t>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681728"/>
            <a:ext cx="30175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Adversary next-moves 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pre-positioned counters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681728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B91C1C"/>
                </a:solidFill>
                <a:latin typeface="Segoe UI"/>
              </a:rPr>
              <a:t>Restating containment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B91C1C"/>
                </a:solidFill>
                <a:latin typeface="Segoe UI"/>
              </a:rPr>
              <a:t>Unverified-vector planning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449824"/>
            <a:ext cx="10972800" cy="896112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1520" y="5577840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Standard Defense Posture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55778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4338CA"/>
                </a:solidFill>
                <a:latin typeface="Segoe UI"/>
              </a:rPr>
              <a:t>DEFENSE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5577840"/>
            <a:ext cx="30175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Proportionate routine hardening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(the ELSE branch)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5577840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B91C1C"/>
                </a:solidFill>
                <a:latin typeface="Segoe UI"/>
              </a:rPr>
              <a:t>Escalation of any kind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5566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E1B4B"/>
                </a:solidFill>
                <a:latin typeface="Segoe UI"/>
              </a:rPr>
              <a:t>Every persona carries a STRICT BOUNDARIES block naming what belongs to someone else — separation is enforced in the prompt, not left to convention.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4338CA"/>
                </a:solidFill>
                <a:latin typeface="Segoe UI"/>
              </a:rP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E1B4B"/>
                </a:solidFill>
                <a:latin typeface="Segoe UI"/>
              </a:rPr>
              <a:t>Prompt Engineering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520440" cy="22860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3118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4338CA"/>
                </a:solidFill>
                <a:latin typeface="Segoe UI"/>
              </a:rPr>
              <a:t>1 · FORMAT CONTRACT — all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011680"/>
            <a:ext cx="31181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One shared template appended to every persona: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“single raw JSON object… no markdown fences… exactly these keys… integers 0–100 with no units… never omit a key, never return null.”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ENFORCED, not requested: a missing key raises LLMContractError.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20440" cy="22860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44568" y="1609344"/>
            <a:ext cx="3118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47857"/>
                </a:solidFill>
                <a:latin typeface="Segoe UI"/>
              </a:rPr>
              <a:t>2 · FEW-SHOT — 2 examples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11680"/>
            <a:ext cx="31181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Audio Analyst and Video Detector each carry TWO complete Input/Output pairs.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Deliberately paired: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one POSITIVE case,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one NEGATIVE case.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Coordinator and Predictor carry one worked example each.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474720" cy="22860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93608" y="1609344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B45309"/>
                </a:solidFill>
                <a:latin typeface="Segoe UI"/>
              </a:rPr>
              <a:t>3 · HARD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011680"/>
            <a:ext cx="307238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The Predictor's prompt forbids planning against an unverified vector: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“…state that planning is blocked, set confidence_score to 20 or below, set next_step to await_vector_verification.”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77639"/>
            <a:ext cx="10972800" cy="21488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B91C1C"/>
                </a:solidFill>
                <a:latin typeface="Segoe UI"/>
              </a:rPr>
              <a:t>THE REFINEMENT THAT MATTERED MOST — why two examples, and why one must be negative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5156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1E1B4B"/>
                </a:solidFill>
                <a:latin typeface="Segoe UI"/>
              </a:rPr>
              <a:t>▸  PROBLEM: with ONE high-confidence example, the Audio Analyst returned SYNTHETIC for every artefact — it never once exercised the INCONCLUSIVE branch.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▸  A detector with a 100% true-positive rate AND a 100% false-positive rate is not a detector.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▸  FIX: added a second example built on weak evidence — a short, noisy sample with one indicator → INCONCLUSIVE, threat_score 22, next_step request_longer_sample.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047857"/>
                </a:solidFill>
                <a:latin typeface="Segoe UI"/>
              </a:rPr>
              <a:t>▸  RESULT: the verdict now tracks indicator count instead of defaulting to the alarming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4338CA"/>
                </a:solidFill>
                <a:latin typeface="Segoe UI"/>
              </a:rPr>
              <a:t>ARCHITECTURAL DECISION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E1B4B"/>
                </a:solidFill>
                <a:latin typeface="Segoe UI"/>
              </a:rPr>
              <a:t>Collaboration Pattern — and why we rejected the alternatives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72800" cy="777240"/>
          </a:xfrm>
          <a:prstGeom prst="roundRect">
            <a:avLst/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E1B4B"/>
                </a:solidFill>
                <a:latin typeface="Segoe UI"/>
              </a:rPr>
              <a:t>HIERARCHICAL SUPERVISOR OVER A SHARED-STATE BLACKBOARD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E1B4B"/>
                </a:solidFill>
                <a:latin typeface="Segoe UI"/>
              </a:rPr>
              <a:t>Supervisor decides WHO runs.  Blackboard decides HOW findings are shared.  Separating those two questions is the whole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1097280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56946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91C1C"/>
                </a:solidFill>
                <a:latin typeface="Segoe UI"/>
              </a:rPr>
              <a:t>✗  Sequential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560320"/>
            <a:ext cx="7635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Audio and video are independent — serialising makes runtime the SUM instead of the MAX, for zero analytical benefit. The dependency would exist only as position in a 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593591"/>
            <a:ext cx="1097280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373989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91C1C"/>
                </a:solidFill>
                <a:latin typeface="Segoe UI"/>
              </a:rPr>
              <a:t>✗  Point-to-point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730752"/>
            <a:ext cx="7635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The Predictor's dependency is a DATA dependency. On a blackboard it reads vector_verified once. With messages, that guarantee must be re-implemented in every sender — and the fallback has nowhere to look for salvage.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764024"/>
            <a:ext cx="1097280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9103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91C1C"/>
                </a:solidFill>
                <a:latin typeface="Segoe UI"/>
              </a:rPr>
              <a:t>✗  Free-form group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901184"/>
            <a:ext cx="7635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No natural termination condition → the loop guard and the 5-second fallback budget become unenforceable. We traded emergence for auditability, which is the right trade for a countermeasure unit.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47857"/>
                </a:solidFill>
                <a:latin typeface="Segoe UI"/>
              </a:rPr>
              <a:t>The dependency the brief demands — “the Predictor cannot plan until the Coordinator verifies” — is enforced at THREE layers: topological, data, and semantic.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4338CA"/>
                </a:solidFill>
                <a:latin typeface="Segoe UI"/>
              </a:rPr>
              <a:t>ROBUSTNESS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E1B4B"/>
                </a:solidFill>
                <a:latin typeface="Segoe UI"/>
              </a:rPr>
              <a:t>Robustness — budgets, guards and typed failures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20440" cy="19202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563624"/>
            <a:ext cx="3118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4338CA"/>
                </a:solidFill>
                <a:latin typeface="Segoe UI"/>
              </a:rPr>
              <a:t>API CALL BUDGETS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65960"/>
            <a:ext cx="31181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Timeout  25 s  → hard-clamped ≤ 30 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Retries    2   → hard-clamped ≤ 3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Clamped in code, not in prose — a bad .env cannot push the system outside the specified budget.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Back-off: 0.4s → 0.8s → 1.6s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19202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44568" y="1563624"/>
            <a:ext cx="3118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B45309"/>
                </a:solidFill>
                <a:latin typeface="Segoe UI"/>
              </a:rPr>
              <a:t>THREE LOOP GUARDS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65960"/>
            <a:ext cx="31181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1.  Refinement budget = 2 loops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2.  Graph recursion limit = 24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3.  Mission deadline = 90 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They fail INDEPENDENTLY. Time and iteration count are separate exhaustion modes — both must be able to stop the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474720" cy="19202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93608" y="1563624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47857"/>
                </a:solidFill>
                <a:latin typeface="Segoe UI"/>
              </a:rPr>
              <a:t>TYPED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965960"/>
            <a:ext cx="307238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18 handlers · 14 exception types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(assessment minimum: 3)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JSONDecodeError · KeyError on shared state · TypeError on bad tool args · HallucinatedToolError · GraphRecursionError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E1B4B"/>
                </a:solidFill>
                <a:latin typeface="Segoe UI"/>
              </a:rPr>
              <a:t>The invariant that makes it all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23360"/>
            <a:ext cx="10972800" cy="685800"/>
          </a:xfrm>
          <a:prstGeom prst="roundRect">
            <a:avLst/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418795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1E1B4B"/>
                </a:solidFill>
                <a:latin typeface="Segoe UI"/>
              </a:rPr>
              <a:t>AN AGENT NEVER RAISES INTO THE GRAPH.  A failed specialist files a DEGRADED report — so the orchestrator can always assume there is something to salvage.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3776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1">
                <a:solidFill>
                  <a:srgbClr val="1E1B4B"/>
                </a:solidFill>
                <a:latin typeface="Segoe UI"/>
              </a:rPr>
              <a:t>▸  Degraded reports are EXCLUDED from threat fusion, not counted as zero — absence of evidence is not evidence of safety.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▸  The evaluator fails OPEN: if self-review cannot run, the product is released with an explicit “unreviewed” caveat rather than blocked.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▸  We run graph.stream() not graph.invoke() — invoke() discards everything when it raises, leaving the fallback with nothing to salvage.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4338CA"/>
                </a:solidFill>
                <a:latin typeface="Segoe UI"/>
              </a:rPr>
              <a:t>ROBUSTNESS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E1B4B"/>
                </a:solidFill>
                <a:latin typeface="Segoe UI"/>
              </a:rPr>
              <a:t>The Fallback System — measured, not claimed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1B4B"/>
                </a:solidFill>
                <a:latin typeface="Segoe UI"/>
              </a:rPr>
              <a:t>Two properties make the &lt; 5 second guarantee real: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394960" cy="12344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5528" y="1883664"/>
            <a:ext cx="49926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47857"/>
                </a:solidFill>
                <a:latin typeface="Segoe UI"/>
              </a:rPr>
              <a:t>NO LLM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286000"/>
            <a:ext cx="49926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The fallback path is pure Python over the blackboard. It cannot fail for the same reason that triggered it. That is why it runs in milliseconds.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12344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73368" y="1883664"/>
            <a:ext cx="49926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47857"/>
                </a:solidFill>
                <a:latin typeface="Segoe UI"/>
              </a:rPr>
              <a:t>NO INVENTION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286000"/>
            <a:ext cx="49926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Every line of a degraded product is copied from a report that actually completed. Where nothing completed, it says so and recommends no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00400"/>
            <a:ext cx="10972800" cy="365760"/>
          </a:xfrm>
          <a:prstGeom prst="rect">
            <a:avLst/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INJECTED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2918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SYSTEM BEHAVIOUR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2918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32918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LATENCY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566160"/>
            <a:ext cx="10972800" cy="658368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Endpoint outage at the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fusion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657600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3 attempts, then diverted to fallback;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audio + video findings salvaged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657600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4338CA"/>
                </a:solidFill>
                <a:latin typeface="Segoe UI"/>
              </a:rPr>
              <a:t>PARTIAL_RESPONSE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4338CA"/>
                </a:solidFill>
                <a:latin typeface="Segoe UI"/>
              </a:rPr>
              <a:t>66.7%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3712463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47857"/>
                </a:solidFill>
                <a:latin typeface="Segoe UI"/>
              </a:rPr>
              <a:t>1 234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224528"/>
            <a:ext cx="109728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4315968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Malformed non-JSON from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the Audio Analyst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315968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That agent degrades and is excluded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from fusion; mission continues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315968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4338CA"/>
                </a:solidFill>
                <a:latin typeface="Segoe UI"/>
              </a:rPr>
              <a:t>FULL_ASSESSMENT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4338CA"/>
                </a:solidFill>
                <a:latin typeface="Segoe UI"/>
              </a:rPr>
              <a:t>fused 92.71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437083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47857"/>
                </a:solidFill>
                <a:latin typeface="Segoe UI"/>
              </a:rPr>
              <a:t>78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882896"/>
            <a:ext cx="10972800" cy="658368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4974336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Hallucinated tool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run_nmap_scan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974336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Refused at the registry; agent completes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on real evidence with a warning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974336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4338CA"/>
                </a:solidFill>
                <a:latin typeface="Segoe UI"/>
              </a:rPr>
              <a:t>FULL_ASSESSMENT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5029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47857"/>
                </a:solidFill>
                <a:latin typeface="Segoe UI"/>
              </a:rPr>
              <a:t>63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541264"/>
            <a:ext cx="109728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5632703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Infinite reasoning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5632703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GraphRecursionError caught at limit 24;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last coherent state salvaged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632703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4338CA"/>
                </a:solidFill>
                <a:latin typeface="Segoe UI"/>
              </a:rPr>
              <a:t>PARTIAL_RESPONSE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568756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47857"/>
                </a:solidFill>
                <a:latin typeface="Segoe UI"/>
              </a:rPr>
              <a:t>156 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6291071"/>
            <a:ext cx="10972800" cy="45720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2960" y="6391655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47857"/>
                </a:solidFill>
                <a:latin typeface="Segoe UI"/>
              </a:rPr>
              <a:t>Slowest case 1 234 ms — 4× INSIDE the 5-second ceiling.  No unhandled exception in any case.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A5B4FC"/>
                </a:solidFill>
                <a:latin typeface="Segoe UI"/>
              </a:rPr>
              <a:t>LIVE DEMONSTRATION  · 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A multi-vector Entity incursion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1371600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86EFAC"/>
                </a:solidFill>
                <a:latin typeface="Consolas"/>
              </a:rPr>
              <a:t>$  python main.py --scenario scenarios/scenario_multi_vector.json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Consolas"/>
              </a:rPr>
              <a:t>810-character brief  ·  2 media artefacts  ·  synthetic CFO voicemail + manipulated CCTV + C2 beaconing on CVE-2024-3400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A5B4FC"/>
                </a:solidFill>
                <a:latin typeface="Segoe UI"/>
              </a:rPr>
              <a:t>WHAT TO POINT AT, IN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50" b="1">
                <a:solidFill>
                  <a:srgbClr val="E2E8F0"/>
                </a:solidFill>
                <a:latin typeface="Segoe UI"/>
              </a:rPr>
              <a:t>▸  Step 2 — “Routing mode DYNAMIC_SEMANTIC → [audio_analyst, video_detector, cyber_coordinator]”. The router chose three specialists from the text.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50" b="0">
                <a:solidFill>
                  <a:srgbClr val="C7D2FE"/>
                </a:solidFill>
                <a:latin typeface="Segoe UI"/>
              </a:rPr>
              <a:t>▸  Steps 3–5 — both media specialists file, THEN the coordinator runs. That is the dependency being enforced.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50" b="0">
                <a:solidFill>
                  <a:srgbClr val="C7D2FE"/>
                </a:solidFill>
                <a:latin typeface="Segoe UI"/>
              </a:rPr>
              <a:t>▸  Step 7 — “score 96.11 vs threshold 80.0: ESCALATED”. Conditional Path 3 firing.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50" b="0">
                <a:solidFill>
                  <a:srgbClr val="C7D2FE"/>
                </a:solidFill>
                <a:latin typeface="Segoe UI"/>
              </a:rPr>
              <a:t>▸  Steps 9–13 — the unit REJECTS ITS OWN first draft (coverage 70), loops back, and accepts the second at coverage 91.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50" b="1">
                <a:solidFill>
                  <a:srgbClr val="86EFAC"/>
                </a:solidFill>
                <a:latin typeface="Segoe UI"/>
              </a:rPr>
              <a:t>▸  Then run scenario_low_threat.json — score 5.0, routes to standard_defense. Same code, opposite branch.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5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CA5A5"/>
                </a:solidFill>
                <a:latin typeface="Segoe UI"/>
              </a:rPr>
              <a:t>LIVE DEMONSTRATION  · 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Triggering the fallback,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1051560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86EFAC"/>
                </a:solidFill>
                <a:latin typeface="Consolas"/>
              </a:rPr>
              <a:t>$  python demo_fallback.py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Consolas"/>
              </a:rPr>
              <a:t>or  --case 1  (endpoint outage)   ·   --case 4  (infinite loop)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CA5A5"/>
                </a:solidFill>
                <a:latin typeface="Segoe UI"/>
              </a:rPr>
              <a:t>WHAT TO SAY WHILE IT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50" b="1">
                <a:solidFill>
                  <a:srgbClr val="E2E8F0"/>
                </a:solidFill>
                <a:latin typeface="Segoe UI"/>
              </a:rPr>
              <a:t>▸  “We are killing the inference endpoint for the FUSION agent — the worst possible one to lose.”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50" b="0">
                <a:solidFill>
                  <a:srgbClr val="FECACA"/>
                </a:solidFill>
                <a:latin typeface="Segoe UI"/>
              </a:rPr>
              <a:t>▸  “Three retry attempts, then it gives up and degrades — it does not hang and it does not crash.”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50" b="0">
                <a:solidFill>
                  <a:srgbClr val="FECACA"/>
                </a:solidFill>
                <a:latin typeface="Segoe UI"/>
              </a:rPr>
              <a:t>▸  “RISK WARNING header, 66.7% completion, and the two specialist findings that DID complete are salvaged.”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50" b="0">
                <a:solidFill>
                  <a:srgbClr val="FECACA"/>
                </a:solidFill>
                <a:latin typeface="Segoe UI"/>
              </a:rPr>
              <a:t>▸  “Nothing in that output is invented — every line came from a report that actually finished.”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50" b="1">
                <a:solidFill>
                  <a:srgbClr val="86EFAC"/>
                </a:solidFill>
                <a:latin typeface="Segoe UI"/>
              </a:rPr>
              <a:t>▸  “1 234 milliseconds. The requirement was 5 seconds.”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50" b="0">
                <a:solidFill>
                  <a:srgbClr val="FECACA"/>
                </a:solidFill>
                <a:latin typeface="Segoe UI"/>
              </a:rPr>
              <a:t>▸  Case 3 is the one to highlight if time is short: the agent asks for a tool that does not exist, the registry refuses it, and the mission still completes in full.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4338CA"/>
                </a:solidFill>
                <a:latin typeface="Segoe U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E1B4B"/>
                </a:solidFill>
                <a:latin typeface="Segoe UI"/>
              </a:rPr>
              <a:t>Results &amp; Requirement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2615184" cy="11887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4338CA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E1B4B"/>
                </a:solidFill>
                <a:latin typeface="Segoe UI"/>
              </a:rPr>
              <a:t>specialised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4086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minimum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1463040"/>
            <a:ext cx="2615184" cy="11887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29584" y="15819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4338CA"/>
                </a:solidFill>
                <a:latin typeface="Segoe U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08483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E1B4B"/>
                </a:solidFill>
                <a:latin typeface="Segoe UI"/>
              </a:rPr>
              <a:t>custom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34086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minimum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63040"/>
            <a:ext cx="2615184" cy="11887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27648" y="15819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4338CA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08483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E1B4B"/>
                </a:solidFill>
                <a:latin typeface="Segoe UI"/>
              </a:rPr>
              <a:t>conditional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34086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minimum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1463040"/>
            <a:ext cx="2615184" cy="11887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25712" y="15819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4338CA"/>
                </a:solidFill>
                <a:latin typeface="Segoe UI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208483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E1B4B"/>
                </a:solidFill>
                <a:latin typeface="Segoe UI"/>
              </a:rPr>
              <a:t>exception handlers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234086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minimum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834640"/>
            <a:ext cx="2615184" cy="11887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29535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4338CA"/>
                </a:solidFill>
                <a:latin typeface="Segoe U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5643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E1B4B"/>
                </a:solidFill>
                <a:latin typeface="Segoe UI"/>
              </a:rPr>
              <a:t>docstring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1246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173 / 173 defs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2424" y="2834640"/>
            <a:ext cx="2615184" cy="11887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529584" y="29535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4338CA"/>
                </a:solidFill>
                <a:latin typeface="Segoe UI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9584" y="345643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E1B4B"/>
                </a:solidFill>
                <a:latin typeface="Segoe UI"/>
              </a:rPr>
              <a:t>[HUMAN-REVIEW]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9584" y="371246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minimum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2834640"/>
            <a:ext cx="2615184" cy="11887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27648" y="29535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4338CA"/>
                </a:solidFill>
                <a:latin typeface="Segoe UI"/>
              </a:rPr>
              <a:t>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45643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E1B4B"/>
                </a:solidFill>
                <a:latin typeface="Segoe UI"/>
              </a:rPr>
              <a:t>automated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71246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all passing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88552" y="2834640"/>
            <a:ext cx="2615184" cy="11887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125712" y="29535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4338CA"/>
                </a:solidFill>
                <a:latin typeface="Segoe UI"/>
              </a:rPr>
              <a:t>1 234 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45643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E1B4B"/>
                </a:solidFill>
                <a:latin typeface="Segoe UI"/>
              </a:rPr>
              <a:t>worst fallback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371246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budget 5 000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3434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1B4B"/>
                </a:solidFill>
                <a:latin typeface="Segoe UI"/>
              </a:rPr>
              <a:t>Routing and branching, demonstrated across three scenarios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754880"/>
            <a:ext cx="10972800" cy="329184"/>
          </a:xfrm>
          <a:prstGeom prst="rect">
            <a:avLst/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7240" y="48280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SCENARIO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82803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AGENTS DISPATCHED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482803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8280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BAND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48280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BRANCH TAKEN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5084064"/>
            <a:ext cx="10972800" cy="402336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51937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scenario_multi_vector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519379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audio + video + coordinator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51937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96.30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51937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B45309"/>
                </a:solidFill>
                <a:latin typeface="Segoe UI"/>
              </a:rPr>
              <a:t>CRITICAL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1240" y="51937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338CA"/>
                </a:solidFill>
                <a:latin typeface="Segoe UI"/>
              </a:rPr>
              <a:t>strategic_predictor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5486400"/>
            <a:ext cx="1097280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77240" y="55961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scenario_audio_only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55961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audio + coordinator  (video idle)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55961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96.71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5596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B45309"/>
                </a:solidFill>
                <a:latin typeface="Segoe UI"/>
              </a:rPr>
              <a:t>CRITICAL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1240" y="55961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338CA"/>
                </a:solidFill>
                <a:latin typeface="Segoe UI"/>
              </a:rPr>
              <a:t>strategic_predictor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5888736"/>
            <a:ext cx="10972800" cy="402336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77240" y="59984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scenario_low_threat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599846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coordinator only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59984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5.00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9640" y="599846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  <a:latin typeface="Segoe UI"/>
              </a:rPr>
              <a:t>MINIMAL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21240" y="59984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338CA"/>
                </a:solidFill>
                <a:latin typeface="Segoe UI"/>
              </a:rPr>
              <a:t>standard_defense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4338CA"/>
                </a:solidFill>
                <a:latin typeface="Segoe UI"/>
              </a:rPr>
              <a:t>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E1B4B"/>
                </a:solidFill>
                <a:latin typeface="Segoe UI"/>
              </a:rPr>
              <a:t>AI Usage Declaration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55778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1E1B4B"/>
                </a:solidFill>
                <a:latin typeface="Segoe UI"/>
              </a:rPr>
              <a:t>What we declare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▸  Generative AI wrote the bulk of the implementation — permitted and expected by the module policy.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▸  We specified the architecture BEFORE generation and checked the output against that specification.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▸  Every generated module was executed against the test suite before acceptance.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1E1B4B"/>
                </a:solidFill>
                <a:latin typeface="Segoe UI"/>
              </a:rPr>
              <a:t>What we changed, and why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▸  13 [HUMAN-REVIEW] annotations in the source, each recording what the AI produced and why we rejected it.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▸  Verify with:  grep -rn "HUMAN-REVIEW" src/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20640" cy="4480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75120" y="162763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4338CA"/>
                </a:solidFill>
                <a:latin typeface="Segoe UI"/>
              </a:rPr>
              <a:t>THREE THAT MATTERED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663440" cy="37490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1 · Blackboard merge reducer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–  AI used default last-write-wins. The video agent silently DELETED the audio agent's report whenever both finished in the same super-step.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2 · stream() not invoke()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–  invoke() discards everything when it raises — a loop breach at step 23 threw away 22 steps of good analysis.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E1B4B"/>
                </a:solidFill>
                <a:latin typeface="Segoe UI"/>
              </a:rPr>
              <a:t>3 · Narrowed a bare except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–  AI wrapped agent execution in except Exception. We narrowed it so real bugs surface instead of masquerading as API outages.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C7D2FE"/>
                </a:solidFill>
                <a:latin typeface="Segoe UI"/>
              </a:rPr>
              <a:t>▸  A MAS whose router genuinely decides — different briefs produce different dispatch sets.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C7D2FE"/>
                </a:solidFill>
                <a:latin typeface="Segoe UI"/>
              </a:rPr>
              <a:t>▸  Four specialists with mutually exclusive responsibilities, enforced in the prompt and in the graph.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C7D2FE"/>
                </a:solidFill>
                <a:latin typeface="Segoe UI"/>
              </a:rPr>
              <a:t>▸  A dependency that is real: the Predictor cannot plan until the Coordinator verifies — enforced at three layers.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86EFAC"/>
                </a:solidFill>
                <a:latin typeface="Segoe UI"/>
              </a:rPr>
              <a:t>▸  A unit that degrades instead of crashing, and tells the operator exactly how much it does not know.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892040"/>
            <a:ext cx="10332720" cy="457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A5B4FC"/>
                </a:solidFill>
                <a:latin typeface="Segoe UI"/>
              </a:rPr>
              <a:t>Repository:  [GITHUB URL]        ·        Full report:  docs/PROJECT_REPORT.pdf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4338CA"/>
                </a:solidFill>
                <a:latin typeface="Segoe U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E1B4B"/>
                </a:solidFill>
                <a:latin typeface="Segoe UI"/>
              </a:rPr>
              <a:t>Appendix · Demo Command Cheat-Sheet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72800" cy="502920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Full multi-vector run (escalated branch)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453896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6534A"/>
                </a:solidFill>
                <a:latin typeface="Consolas"/>
              </a:rPr>
              <a:t>python main.py --scenario scenarios/scenario_multi_vector.json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09728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Audio-only — router leaves the video agent idle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984248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6534A"/>
                </a:solidFill>
                <a:latin typeface="Consolas"/>
              </a:rPr>
              <a:t>python main.py --scenario scenarios/scenario_audio_only.json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32304"/>
            <a:ext cx="10972800" cy="502920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496312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Low threat — the ELSE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14600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6534A"/>
                </a:solidFill>
                <a:latin typeface="Consolas"/>
              </a:rPr>
              <a:t>python main.py --scenario scenarios/scenario_low_threat.json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62656"/>
            <a:ext cx="109728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3026664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All four failure classes, each timed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44952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6534A"/>
                </a:solidFill>
                <a:latin typeface="Consolas"/>
              </a:rPr>
              <a:t>python demo_fallback.py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493008"/>
            <a:ext cx="10972800" cy="502920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557016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Endpoint outage only / infinite loop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575304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6534A"/>
                </a:solidFill>
                <a:latin typeface="Consolas"/>
              </a:rPr>
              <a:t>python demo_fallback.py --case 1     |     --case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023360"/>
            <a:ext cx="109728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4087368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Test suite (35 tests)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105656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6534A"/>
                </a:solidFill>
                <a:latin typeface="Consolas"/>
              </a:rPr>
              <a:t>python -m pytest tests/ -v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553712"/>
            <a:ext cx="10972800" cy="502920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Requirement self-audit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636008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6534A"/>
                </a:solidFill>
                <a:latin typeface="Consolas"/>
              </a:rPr>
              <a:t>python audit_requirements.py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084064"/>
            <a:ext cx="109728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148072"/>
            <a:ext cx="4023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Prove the embedding-model guard fires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166360"/>
            <a:ext cx="6446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6534A"/>
                </a:solidFill>
                <a:latin typeface="Consolas"/>
              </a:rPr>
              <a:t>MAS_PROVIDER=local MAS_LOCAL_CHAT_MODEL=text-embedding-nomic-embed-text-v1.5 \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6534A"/>
                </a:solidFill>
                <a:latin typeface="Consolas"/>
              </a:rPr>
              <a:t>        python main.py --brief "test"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769864"/>
            <a:ext cx="10972800" cy="502920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5833872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E1B4B"/>
                </a:solidFill>
                <a:latin typeface="Segoe UI"/>
              </a:rPr>
              <a:t>Run against a real local model (LM Studio)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852160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6534A"/>
                </a:solidFill>
                <a:latin typeface="Consolas"/>
              </a:rPr>
              <a:t>set MAS_PROVIDER=local   then   python main.py --scenario scenarios/scenario_multi_vector.json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